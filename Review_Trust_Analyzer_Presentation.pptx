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859l5XqJ6ZkeV5IvW1fHmsdBD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8652750" y="-1405650"/>
            <a:ext cx="4572000" cy="4572000"/>
          </a:xfrm>
          <a:prstGeom prst="ellipse">
            <a:avLst/>
          </a:prstGeom>
          <a:solidFill>
            <a:srgbClr val="0E2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645920" y="1097280"/>
            <a:ext cx="137160" cy="137160"/>
          </a:xfrm>
          <a:prstGeom prst="ellipse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645920" y="13716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CSS-321  •  DATA ANALYTICS PROJECT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645920" y="182880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 Trust Analyzer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645920" y="29260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Detecting Fake Product Reviews Using Machine Learning,</a:t>
            </a:r>
            <a:br>
              <a:rPr b="0" i="0" lang="en-US" sz="18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Sentiment Analysis &amp; Network Graph Analytics</a:t>
            </a:r>
            <a:endParaRPr/>
          </a:p>
        </p:txBody>
      </p:sp>
      <p:sp>
        <p:nvSpPr>
          <p:cNvPr id="89" name="Google Shape;89;p1"/>
          <p:cNvSpPr/>
          <p:nvPr/>
        </p:nvSpPr>
        <p:spPr>
          <a:xfrm>
            <a:off x="1645920" y="3749039"/>
            <a:ext cx="1828800" cy="45720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1645920" y="411480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Aswin M  (2023BCS0012)     •     Divon John  (2023BCS0024)</a:t>
            </a:r>
            <a:endParaRPr/>
          </a:p>
          <a:p>
            <a:pPr indent="0" lvl="0" marL="0" marR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Mahadev P Nair  (2023BCS0018)     •     Zewin Jos  (2023BCS0063)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645920" y="64008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7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 | 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548640" y="457200"/>
            <a:ext cx="640080" cy="502920"/>
          </a:xfrm>
          <a:prstGeom prst="roundRect">
            <a:avLst>
              <a:gd fmla="val 15000" name="adj"/>
            </a:avLst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1371600" y="384048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1371600" y="1005840"/>
            <a:ext cx="1097280" cy="36576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371600" y="114300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Why fake review detection matters in modern e-commerce</a:t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548640" y="1554480"/>
            <a:ext cx="5303520" cy="475488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822960" y="1783080"/>
            <a:ext cx="47548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Online reviews are the primary trust signal for consumers — 93% of buyers read reviews before purchasing.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Malicious actors generate fake reviews to artificially inflate or deflate product ratings for financial gain.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Computer-generated (CG) fake reviews are becoming increasingly sophisticated and harder to spot manually.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undermines consumer trust, distorts fair marketplace competition, and damages platform credibility.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moderation at scale is infeasible — automated ML-based detection is essential.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6400800" y="1554480"/>
            <a:ext cx="2468880" cy="100584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537960" y="1627632"/>
            <a:ext cx="2194560" cy="32004"/>
          </a:xfrm>
          <a:prstGeom prst="rect">
            <a:avLst/>
          </a:prstGeom>
          <a:solidFill>
            <a:srgbClr val="FF6B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537960" y="17373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$152B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6537960" y="21945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Fake review</a:t>
            </a:r>
            <a:b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industry value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9144000" y="1554480"/>
            <a:ext cx="2468880" cy="100584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9281160" y="1627632"/>
            <a:ext cx="2194560" cy="32004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9281160" y="17373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30-40%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9281160" y="21945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Reviews estimated</a:t>
            </a:r>
            <a:b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to be fake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6400800" y="2926080"/>
            <a:ext cx="2468880" cy="100584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6537960" y="2999232"/>
            <a:ext cx="2194560" cy="32004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6537960" y="31089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93%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6537960" y="35661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Consumers influenced</a:t>
            </a:r>
            <a:b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by online reviews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9144000" y="2926080"/>
            <a:ext cx="2468880" cy="100584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9281160" y="2999232"/>
            <a:ext cx="2194560" cy="32004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9281160" y="31089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4.7★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9281160" y="35661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Average fake</a:t>
            </a:r>
            <a:b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ratings inflated</a:t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6400800" y="4297680"/>
            <a:ext cx="5212080" cy="2011680"/>
          </a:xfrm>
          <a:prstGeom prst="roundRect">
            <a:avLst>
              <a:gd fmla="val 2000" name="adj"/>
            </a:avLst>
          </a:prstGeom>
          <a:solidFill>
            <a:srgbClr val="1A0A0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6400800" y="4297680"/>
            <a:ext cx="5212080" cy="36576"/>
          </a:xfrm>
          <a:prstGeom prst="rect">
            <a:avLst/>
          </a:prstGeom>
          <a:solidFill>
            <a:srgbClr val="FF6B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6675120" y="448056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⚡ THE CHALLENGE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6675120" y="4846320"/>
            <a:ext cx="4663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Can we build an automated system that accurately distinguishes genuine human reviews from computer-generated fake ones using text analysis, sentiment scoring, and behavioral pattern recognition?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/>
          <p:nvPr/>
        </p:nvSpPr>
        <p:spPr>
          <a:xfrm>
            <a:off x="548640" y="457200"/>
            <a:ext cx="640080" cy="502920"/>
          </a:xfrm>
          <a:prstGeom prst="roundRect">
            <a:avLst>
              <a:gd fmla="val 15000" name="adj"/>
            </a:avLst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1371600" y="384048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Our Solution Overview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1371600" y="1005840"/>
            <a:ext cx="1097280" cy="36576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1371600" y="114300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An end-to-end machine learning pipeline for fake review detection</a:t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548640" y="1554480"/>
            <a:ext cx="3474720" cy="329184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548640" y="1554480"/>
            <a:ext cx="3474720" cy="36576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777240" y="173736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🔍  Text Analysis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777240" y="2286000"/>
            <a:ext cx="3017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NLP-driven feature extraction using TF-IDF vectorization, text cleaning, tokenization, stemming, and handcrafted linguistic features like review length, exclamation count, and capitalization ratio.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4297679" y="1554480"/>
            <a:ext cx="3474720" cy="329184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4297679" y="1554480"/>
            <a:ext cx="3474720" cy="36576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4526279" y="173736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💡  Sentiment Engine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4526279" y="2286000"/>
            <a:ext cx="3017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VADER sentiment scoring to detect emotional inconsistencies. A 5-star review with negative sentiment is a strong fake signal. We flag rating-sentiment mismatches as behavioral features.</a:t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8046719" y="1554480"/>
            <a:ext cx="3474720" cy="329184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8046719" y="1554480"/>
            <a:ext cx="3474720" cy="36576"/>
          </a:xfrm>
          <a:prstGeom prst="rect">
            <a:avLst/>
          </a:prstGeom>
          <a:solidFill>
            <a:srgbClr val="FF6B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 txBox="1"/>
          <p:nvPr/>
        </p:nvSpPr>
        <p:spPr>
          <a:xfrm>
            <a:off x="8275319" y="1737360"/>
            <a:ext cx="3017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🌐  Network &amp; Anomaly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8275319" y="2286000"/>
            <a:ext cx="30175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Reviewer graph analysis to find co-review clusters (same product within 48hrs). Product-level Isolation Forest anomaly detection to flag coordinated review flooding.</a:t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548640" y="5120640"/>
            <a:ext cx="11064240" cy="128016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 txBox="1"/>
          <p:nvPr/>
        </p:nvSpPr>
        <p:spPr>
          <a:xfrm>
            <a:off x="822960" y="52578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🎯  APPROACH SUMMARY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We train and compare three classifiers — Naive Bayes, Logistic Regression, and Random Forest — on a unified 106-feature matrix combining TF-IDF terms with handcrafted behavioral indicators. The best model (Random Forest, 200 trees) achieves 85.9% accuracy with balanced precision and recall.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"/>
          <p:cNvSpPr/>
          <p:nvPr/>
        </p:nvSpPr>
        <p:spPr>
          <a:xfrm>
            <a:off x="548640" y="457200"/>
            <a:ext cx="640080" cy="502920"/>
          </a:xfrm>
          <a:prstGeom prst="roundRect">
            <a:avLst>
              <a:gd fmla="val 15000" name="adj"/>
            </a:avLst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51" name="Google Shape;151;p4"/>
          <p:cNvSpPr txBox="1"/>
          <p:nvPr/>
        </p:nvSpPr>
        <p:spPr>
          <a:xfrm>
            <a:off x="1371600" y="384048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1371600" y="1005840"/>
            <a:ext cx="1097280" cy="36576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1371600" y="114300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Two complementary Kaggle datasets for robust training and validation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548640" y="1554480"/>
            <a:ext cx="5303520" cy="237744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48640" y="1554480"/>
            <a:ext cx="5303520" cy="36576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822960" y="17373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📦  Amazon Fine Food Reviews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822960" y="224028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Source: Kaggle (SNAP Stanford)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80,000 genuine reviews sampled for analysis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Contains: text, rating, reviewer ID, product ID, timestamps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Rich metadata enables network graph and anomaly analysis</a:t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548640" y="4206240"/>
            <a:ext cx="5303520" cy="237744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48640" y="4206240"/>
            <a:ext cx="5303520" cy="36576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822960" y="43891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🤖  Fake Reviews Dataset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822960" y="4892040"/>
            <a:ext cx="475488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Source: Kaggle (Mexwell)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40,000 reviews — both computer-generated and authentic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Binary labels: CG (fake) vs OR (genuine)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dataset for training the fake review classifier</a:t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6400800" y="1554480"/>
            <a:ext cx="2468880" cy="105156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6537960" y="1627632"/>
            <a:ext cx="2194560" cy="32004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6537960" y="17373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120K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6537960" y="21945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Total reviews</a:t>
            </a:r>
            <a:b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analyzed</a:t>
            </a:r>
            <a:endParaRPr/>
          </a:p>
        </p:txBody>
      </p:sp>
      <p:sp>
        <p:nvSpPr>
          <p:cNvPr id="166" name="Google Shape;166;p4"/>
          <p:cNvSpPr/>
          <p:nvPr/>
        </p:nvSpPr>
        <p:spPr>
          <a:xfrm>
            <a:off x="9144000" y="1554480"/>
            <a:ext cx="2468880" cy="105156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9281160" y="1627632"/>
            <a:ext cx="2194560" cy="32004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 txBox="1"/>
          <p:nvPr/>
        </p:nvSpPr>
        <p:spPr>
          <a:xfrm>
            <a:off x="9281160" y="17373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106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9281160" y="21945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Engineered</a:t>
            </a:r>
            <a:b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6400800" y="2926080"/>
            <a:ext cx="2468880" cy="105156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537960" y="2999232"/>
            <a:ext cx="2194560" cy="32004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 txBox="1"/>
          <p:nvPr/>
        </p:nvSpPr>
        <p:spPr>
          <a:xfrm>
            <a:off x="6537960" y="31089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5,000</a:t>
            </a:r>
            <a:endParaRPr/>
          </a:p>
        </p:txBody>
      </p:sp>
      <p:sp>
        <p:nvSpPr>
          <p:cNvPr id="173" name="Google Shape;173;p4"/>
          <p:cNvSpPr txBox="1"/>
          <p:nvPr/>
        </p:nvSpPr>
        <p:spPr>
          <a:xfrm>
            <a:off x="6537960" y="35661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TF-IDF</a:t>
            </a:r>
            <a:b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vocabulary terms</a:t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9144000" y="2926080"/>
            <a:ext cx="2468880" cy="105156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9281160" y="2999232"/>
            <a:ext cx="2194560" cy="32004"/>
          </a:xfrm>
          <a:prstGeom prst="rect">
            <a:avLst/>
          </a:prstGeom>
          <a:solidFill>
            <a:srgbClr val="2CA2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9281160" y="3108960"/>
            <a:ext cx="2194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CA25F"/>
                </a:solidFill>
                <a:latin typeface="Calibri"/>
                <a:ea typeface="Calibri"/>
                <a:cs typeface="Calibri"/>
                <a:sym typeface="Calibri"/>
              </a:rPr>
              <a:t>80/20</a:t>
            </a:r>
            <a:endParaRPr/>
          </a:p>
        </p:txBody>
      </p:sp>
      <p:sp>
        <p:nvSpPr>
          <p:cNvPr id="177" name="Google Shape;177;p4"/>
          <p:cNvSpPr txBox="1"/>
          <p:nvPr/>
        </p:nvSpPr>
        <p:spPr>
          <a:xfrm>
            <a:off x="9281160" y="356616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Train-test</a:t>
            </a:r>
            <a:b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split ratio</a:t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6400800" y="4297680"/>
            <a:ext cx="5212080" cy="228600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 txBox="1"/>
          <p:nvPr/>
        </p:nvSpPr>
        <p:spPr>
          <a:xfrm>
            <a:off x="6675120" y="443484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📋  KEY ATTRIBUTES</a:t>
            </a:r>
            <a:endParaRPr/>
          </a:p>
        </p:txBody>
      </p:sp>
      <p:sp>
        <p:nvSpPr>
          <p:cNvPr id="180" name="Google Shape;180;p4"/>
          <p:cNvSpPr txBox="1"/>
          <p:nvPr/>
        </p:nvSpPr>
        <p:spPr>
          <a:xfrm>
            <a:off x="6675120" y="4800600"/>
            <a:ext cx="4663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/ text_  → Raw review content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rating  → Star rating (1–5)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  → CG (Fake) or OR (Genuine)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review_length, exclaim_count, caps_ratio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sentiment_score, rating_mismatch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"/>
          <p:cNvSpPr/>
          <p:nvPr/>
        </p:nvSpPr>
        <p:spPr>
          <a:xfrm>
            <a:off x="548640" y="457200"/>
            <a:ext cx="640080" cy="502920"/>
          </a:xfrm>
          <a:prstGeom prst="roundRect">
            <a:avLst>
              <a:gd fmla="val 15000" name="adj"/>
            </a:avLst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1371600" y="384048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/>
          </a:p>
        </p:txBody>
      </p:sp>
      <p:sp>
        <p:nvSpPr>
          <p:cNvPr id="187" name="Google Shape;187;p5"/>
          <p:cNvSpPr/>
          <p:nvPr/>
        </p:nvSpPr>
        <p:spPr>
          <a:xfrm>
            <a:off x="1371600" y="1005840"/>
            <a:ext cx="1097280" cy="36576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1371600" y="114300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End-to-end system design — from raw data to live predictions</a:t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365760" y="1828800"/>
            <a:ext cx="1554480" cy="182880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365760" y="1828800"/>
            <a:ext cx="1554480" cy="32004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457200" y="196596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Raw Data</a:t>
            </a:r>
            <a:br>
              <a:rPr b="1" i="0" lang="en-US" sz="12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(CSV)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457200" y="256032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Amazon +</a:t>
            </a:r>
            <a:b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Fake Reviews</a:t>
            </a:r>
            <a:b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Kaggle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1965960" y="24688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2240280" y="1828800"/>
            <a:ext cx="1554480" cy="182880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2240280" y="1828800"/>
            <a:ext cx="1554480" cy="32004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2331720" y="196596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br>
              <a:rPr b="1" i="0" lang="en-US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&amp; EDA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2331720" y="256032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Cleaning,</a:t>
            </a:r>
            <a:b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Tokenization,</a:t>
            </a:r>
            <a:b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Stemming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3840480" y="24688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99" name="Google Shape;199;p5"/>
          <p:cNvSpPr/>
          <p:nvPr/>
        </p:nvSpPr>
        <p:spPr>
          <a:xfrm>
            <a:off x="4114800" y="1828800"/>
            <a:ext cx="1554480" cy="182880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4114800" y="1828800"/>
            <a:ext cx="1554480" cy="32004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4206240" y="196596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br>
              <a:rPr b="1" i="0" lang="en-US" sz="12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4206240" y="256032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TF-IDF +</a:t>
            </a:r>
            <a:b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Handcrafted</a:t>
            </a:r>
            <a:b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(106 features)</a:t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5715000" y="24688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04" name="Google Shape;204;p5"/>
          <p:cNvSpPr/>
          <p:nvPr/>
        </p:nvSpPr>
        <p:spPr>
          <a:xfrm>
            <a:off x="5989320" y="1828800"/>
            <a:ext cx="1554480" cy="182880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5989320" y="1828800"/>
            <a:ext cx="1554480" cy="32004"/>
          </a:xfrm>
          <a:prstGeom prst="rect">
            <a:avLst/>
          </a:prstGeom>
          <a:solidFill>
            <a:srgbClr val="FF6B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5"/>
          <p:cNvSpPr txBox="1"/>
          <p:nvPr/>
        </p:nvSpPr>
        <p:spPr>
          <a:xfrm>
            <a:off x="6080760" y="196596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Sentiment &amp;</a:t>
            </a:r>
            <a:br>
              <a:rPr b="1" i="0" lang="en-US" sz="1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Graph Analysis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6080760" y="256032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VADER +</a:t>
            </a:r>
            <a:b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b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Clusters</a:t>
            </a:r>
            <a:endParaRPr/>
          </a:p>
        </p:txBody>
      </p:sp>
      <p:sp>
        <p:nvSpPr>
          <p:cNvPr id="208" name="Google Shape;208;p5"/>
          <p:cNvSpPr txBox="1"/>
          <p:nvPr/>
        </p:nvSpPr>
        <p:spPr>
          <a:xfrm>
            <a:off x="7589520" y="24688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09" name="Google Shape;209;p5"/>
          <p:cNvSpPr/>
          <p:nvPr/>
        </p:nvSpPr>
        <p:spPr>
          <a:xfrm>
            <a:off x="7863840" y="1828800"/>
            <a:ext cx="1554480" cy="182880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7863840" y="1828800"/>
            <a:ext cx="1554480" cy="32004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 txBox="1"/>
          <p:nvPr/>
        </p:nvSpPr>
        <p:spPr>
          <a:xfrm>
            <a:off x="7955280" y="196596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br>
              <a:rPr b="1" i="0" lang="en-US" sz="12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&amp; Evaluation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7955280" y="256032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NB, LR,</a:t>
            </a:r>
            <a:b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Random Forest</a:t>
            </a:r>
            <a:b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(Best: 85.9%)</a:t>
            </a:r>
            <a:endParaRPr/>
          </a:p>
        </p:txBody>
      </p:sp>
      <p:sp>
        <p:nvSpPr>
          <p:cNvPr id="213" name="Google Shape;213;p5"/>
          <p:cNvSpPr txBox="1"/>
          <p:nvPr/>
        </p:nvSpPr>
        <p:spPr>
          <a:xfrm>
            <a:off x="9464040" y="2468880"/>
            <a:ext cx="228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9738360" y="1828800"/>
            <a:ext cx="1554480" cy="182880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5"/>
          <p:cNvSpPr/>
          <p:nvPr/>
        </p:nvSpPr>
        <p:spPr>
          <a:xfrm>
            <a:off x="9738360" y="1828800"/>
            <a:ext cx="1554480" cy="32004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5"/>
          <p:cNvSpPr txBox="1"/>
          <p:nvPr/>
        </p:nvSpPr>
        <p:spPr>
          <a:xfrm>
            <a:off x="9829800" y="1965960"/>
            <a:ext cx="1371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Web App</a:t>
            </a:r>
            <a:br>
              <a:rPr b="1" i="0" lang="en-US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(Plumber API)</a:t>
            </a:r>
            <a:endParaRPr/>
          </a:p>
        </p:txBody>
      </p:sp>
      <p:sp>
        <p:nvSpPr>
          <p:cNvPr id="217" name="Google Shape;217;p5"/>
          <p:cNvSpPr txBox="1"/>
          <p:nvPr/>
        </p:nvSpPr>
        <p:spPr>
          <a:xfrm>
            <a:off x="9829800" y="2560320"/>
            <a:ext cx="137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Real-time</a:t>
            </a:r>
            <a:b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prediction</a:t>
            </a:r>
            <a:b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interface</a:t>
            </a:r>
            <a:endParaRPr/>
          </a:p>
        </p:txBody>
      </p:sp>
      <p:sp>
        <p:nvSpPr>
          <p:cNvPr id="218" name="Google Shape;218;p5"/>
          <p:cNvSpPr/>
          <p:nvPr/>
        </p:nvSpPr>
        <p:spPr>
          <a:xfrm>
            <a:off x="548640" y="4114800"/>
            <a:ext cx="11064240" cy="237744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822960" y="42519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⚙️  TECHNOLOGY STACK</a:t>
            </a:r>
            <a:endParaRPr/>
          </a:p>
        </p:txBody>
      </p:sp>
      <p:sp>
        <p:nvSpPr>
          <p:cNvPr id="220" name="Google Shape;220;p5"/>
          <p:cNvSpPr txBox="1"/>
          <p:nvPr/>
        </p:nvSpPr>
        <p:spPr>
          <a:xfrm>
            <a:off x="822960" y="47091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R Language  </a:t>
            </a:r>
            <a:r>
              <a:rPr b="0" i="0" lang="en-US" sz="1100" u="none" cap="none" strike="noStrike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—  Core analysis, statistical computing, modeling</a:t>
            </a:r>
            <a:endParaRPr/>
          </a:p>
        </p:txBody>
      </p:sp>
      <p:sp>
        <p:nvSpPr>
          <p:cNvPr id="221" name="Google Shape;221;p5"/>
          <p:cNvSpPr txBox="1"/>
          <p:nvPr/>
        </p:nvSpPr>
        <p:spPr>
          <a:xfrm>
            <a:off x="6126480" y="47091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tidyverse / tidytext  </a:t>
            </a:r>
            <a:r>
              <a:rPr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—  Data wrangling, text tokenization, TF-IDF</a:t>
            </a:r>
            <a:endParaRPr/>
          </a:p>
        </p:txBody>
      </p:sp>
      <p:sp>
        <p:nvSpPr>
          <p:cNvPr id="222" name="Google Shape;222;p5"/>
          <p:cNvSpPr txBox="1"/>
          <p:nvPr/>
        </p:nvSpPr>
        <p:spPr>
          <a:xfrm>
            <a:off x="822960" y="51206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VADER  </a:t>
            </a:r>
            <a:r>
              <a:rPr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—  Sentiment analysis with compound scoring</a:t>
            </a:r>
            <a:endParaRPr/>
          </a:p>
        </p:txBody>
      </p:sp>
      <p:sp>
        <p:nvSpPr>
          <p:cNvPr id="223" name="Google Shape;223;p5"/>
          <p:cNvSpPr txBox="1"/>
          <p:nvPr/>
        </p:nvSpPr>
        <p:spPr>
          <a:xfrm>
            <a:off x="6126480" y="51206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igraph  </a:t>
            </a:r>
            <a:r>
              <a:rPr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—  Reviewer network graph construction &amp; community detection</a:t>
            </a:r>
            <a:endParaRPr/>
          </a:p>
        </p:txBody>
      </p:sp>
      <p:sp>
        <p:nvSpPr>
          <p:cNvPr id="224" name="Google Shape;224;p5"/>
          <p:cNvSpPr txBox="1"/>
          <p:nvPr/>
        </p:nvSpPr>
        <p:spPr>
          <a:xfrm>
            <a:off x="822960" y="55321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isotree  </a:t>
            </a:r>
            <a:r>
              <a:rPr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—  Isolation Forest for product-level anomaly detection</a:t>
            </a:r>
            <a:endParaRPr/>
          </a:p>
        </p:txBody>
      </p:sp>
      <p:sp>
        <p:nvSpPr>
          <p:cNvPr id="225" name="Google Shape;225;p5"/>
          <p:cNvSpPr txBox="1"/>
          <p:nvPr/>
        </p:nvSpPr>
        <p:spPr>
          <a:xfrm>
            <a:off x="6126480" y="55321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caret / randomForest / e1071  </a:t>
            </a:r>
            <a:r>
              <a:rPr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—  ML model training, evaluation, hyperparameter tuning</a:t>
            </a:r>
            <a:endParaRPr/>
          </a:p>
        </p:txBody>
      </p:sp>
      <p:sp>
        <p:nvSpPr>
          <p:cNvPr id="226" name="Google Shape;226;p5"/>
          <p:cNvSpPr txBox="1"/>
          <p:nvPr/>
        </p:nvSpPr>
        <p:spPr>
          <a:xfrm>
            <a:off x="822960" y="5943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Plumber  </a:t>
            </a:r>
            <a:r>
              <a:rPr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—  REST API serving predictions from trained models</a:t>
            </a:r>
            <a:endParaRPr/>
          </a:p>
        </p:txBody>
      </p:sp>
      <p:sp>
        <p:nvSpPr>
          <p:cNvPr id="227" name="Google Shape;227;p5"/>
          <p:cNvSpPr txBox="1"/>
          <p:nvPr/>
        </p:nvSpPr>
        <p:spPr>
          <a:xfrm>
            <a:off x="6126480" y="594360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HTML / CSS / JavaScript  </a:t>
            </a:r>
            <a:r>
              <a:rPr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—  Frontend web interface for real-time testing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"/>
          <p:cNvSpPr/>
          <p:nvPr/>
        </p:nvSpPr>
        <p:spPr>
          <a:xfrm>
            <a:off x="548640" y="457200"/>
            <a:ext cx="640080" cy="502920"/>
          </a:xfrm>
          <a:prstGeom prst="roundRect">
            <a:avLst>
              <a:gd fmla="val 15000" name="adj"/>
            </a:avLst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233" name="Google Shape;233;p6"/>
          <p:cNvSpPr txBox="1"/>
          <p:nvPr/>
        </p:nvSpPr>
        <p:spPr>
          <a:xfrm>
            <a:off x="1371600" y="384048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Processing Pipeline</a:t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1371600" y="1005840"/>
            <a:ext cx="1097280" cy="36576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 txBox="1"/>
          <p:nvPr/>
        </p:nvSpPr>
        <p:spPr>
          <a:xfrm>
            <a:off x="1371600" y="114300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9-stage sequential R pipeline from raw data to model deployment</a:t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365760" y="1463040"/>
            <a:ext cx="3566160" cy="155448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502920" y="1600200"/>
            <a:ext cx="457200" cy="347472"/>
          </a:xfrm>
          <a:prstGeom prst="roundRect">
            <a:avLst>
              <a:gd fmla="val 15000" name="adj"/>
            </a:avLst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1097280" y="15727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502920" y="20116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Exploratory Data Analysis — rating distributions, review lengths, class balance checks</a:t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4206240" y="1463040"/>
            <a:ext cx="3566160" cy="155448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343400" y="1600200"/>
            <a:ext cx="457200" cy="347472"/>
          </a:xfrm>
          <a:prstGeom prst="roundRect">
            <a:avLst>
              <a:gd fmla="val 15000" name="adj"/>
            </a:avLst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4937760" y="15727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4343400" y="20116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Text cleaning, lowercasing, URL removal, tokenization, stopword removal, Porter stemming</a:t>
            </a:r>
            <a:endParaRPr/>
          </a:p>
        </p:txBody>
      </p:sp>
      <p:sp>
        <p:nvSpPr>
          <p:cNvPr id="244" name="Google Shape;244;p6"/>
          <p:cNvSpPr/>
          <p:nvPr/>
        </p:nvSpPr>
        <p:spPr>
          <a:xfrm>
            <a:off x="8046720" y="1463040"/>
            <a:ext cx="3566160" cy="155448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8183880" y="1600200"/>
            <a:ext cx="457200" cy="347472"/>
          </a:xfrm>
          <a:prstGeom prst="roundRect">
            <a:avLst>
              <a:gd fmla="val 15000" name="adj"/>
            </a:avLst>
          </a:prstGeom>
          <a:solidFill>
            <a:srgbClr val="F0A5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246" name="Google Shape;246;p6"/>
          <p:cNvSpPr txBox="1"/>
          <p:nvPr/>
        </p:nvSpPr>
        <p:spPr>
          <a:xfrm>
            <a:off x="8778240" y="15727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Feature Extraction</a:t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8183880" y="20116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TF-IDF vectorization (5000 terms) + handcrafted features: review_length, exclaim_count, caps_ratio, avg_word_len</a:t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365760" y="3291840"/>
            <a:ext cx="3566160" cy="155448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502920" y="3429000"/>
            <a:ext cx="457200" cy="347472"/>
          </a:xfrm>
          <a:prstGeom prst="roundRect">
            <a:avLst>
              <a:gd fmla="val 15000" name="adj"/>
            </a:avLst>
          </a:prstGeom>
          <a:solidFill>
            <a:srgbClr val="FF6B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250" name="Google Shape;250;p6"/>
          <p:cNvSpPr txBox="1"/>
          <p:nvPr/>
        </p:nvSpPr>
        <p:spPr>
          <a:xfrm>
            <a:off x="1097280" y="34015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Sentiment Analysis</a:t>
            </a:r>
            <a:endParaRPr/>
          </a:p>
        </p:txBody>
      </p:sp>
      <p:sp>
        <p:nvSpPr>
          <p:cNvPr id="251" name="Google Shape;251;p6"/>
          <p:cNvSpPr txBox="1"/>
          <p:nvPr/>
        </p:nvSpPr>
        <p:spPr>
          <a:xfrm>
            <a:off x="502920" y="38404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VADER compound scoring on all reviews. Flag rating-sentiment mismatches as behavioral features</a:t>
            </a:r>
            <a:endParaRPr/>
          </a:p>
        </p:txBody>
      </p:sp>
      <p:sp>
        <p:nvSpPr>
          <p:cNvPr id="252" name="Google Shape;252;p6"/>
          <p:cNvSpPr/>
          <p:nvPr/>
        </p:nvSpPr>
        <p:spPr>
          <a:xfrm>
            <a:off x="4206240" y="3291840"/>
            <a:ext cx="3566160" cy="155448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4343400" y="3429000"/>
            <a:ext cx="457200" cy="347472"/>
          </a:xfrm>
          <a:prstGeom prst="roundRect">
            <a:avLst>
              <a:gd fmla="val 15000" name="adj"/>
            </a:avLst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4937760" y="34015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Topic Modeling</a:t>
            </a:r>
            <a:endParaRPr/>
          </a:p>
        </p:txBody>
      </p:sp>
      <p:sp>
        <p:nvSpPr>
          <p:cNvPr id="255" name="Google Shape;255;p6"/>
          <p:cNvSpPr txBox="1"/>
          <p:nvPr/>
        </p:nvSpPr>
        <p:spPr>
          <a:xfrm>
            <a:off x="4343400" y="38404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Latent Dirichlet Allocation (LDA) with 8 topics to discover hidden review patterns</a:t>
            </a:r>
            <a:endParaRPr/>
          </a:p>
        </p:txBody>
      </p:sp>
      <p:sp>
        <p:nvSpPr>
          <p:cNvPr id="256" name="Google Shape;256;p6"/>
          <p:cNvSpPr/>
          <p:nvPr/>
        </p:nvSpPr>
        <p:spPr>
          <a:xfrm>
            <a:off x="8046720" y="3291840"/>
            <a:ext cx="3566160" cy="155448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8183880" y="3429000"/>
            <a:ext cx="457200" cy="347472"/>
          </a:xfrm>
          <a:prstGeom prst="roundRect">
            <a:avLst>
              <a:gd fmla="val 15000" name="adj"/>
            </a:avLst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258" name="Google Shape;258;p6"/>
          <p:cNvSpPr txBox="1"/>
          <p:nvPr/>
        </p:nvSpPr>
        <p:spPr>
          <a:xfrm>
            <a:off x="8778240" y="34015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Graph Analysis</a:t>
            </a:r>
            <a:endParaRPr/>
          </a:p>
        </p:txBody>
      </p:sp>
      <p:sp>
        <p:nvSpPr>
          <p:cNvPr id="259" name="Google Shape;259;p6"/>
          <p:cNvSpPr txBox="1"/>
          <p:nvPr/>
        </p:nvSpPr>
        <p:spPr>
          <a:xfrm>
            <a:off x="8183880" y="38404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Co-review detection (same product within 48hrs), reviewer-reviewer network, community clustering</a:t>
            </a:r>
            <a:endParaRPr/>
          </a:p>
        </p:txBody>
      </p:sp>
      <p:sp>
        <p:nvSpPr>
          <p:cNvPr id="260" name="Google Shape;260;p6"/>
          <p:cNvSpPr/>
          <p:nvPr/>
        </p:nvSpPr>
        <p:spPr>
          <a:xfrm>
            <a:off x="365760" y="5120640"/>
            <a:ext cx="3566160" cy="155448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502920" y="5257800"/>
            <a:ext cx="457200" cy="347472"/>
          </a:xfrm>
          <a:prstGeom prst="roundRect">
            <a:avLst>
              <a:gd fmla="val 15000" name="adj"/>
            </a:avLst>
          </a:prstGeom>
          <a:solidFill>
            <a:srgbClr val="F0A5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262" name="Google Shape;262;p6"/>
          <p:cNvSpPr txBox="1"/>
          <p:nvPr/>
        </p:nvSpPr>
        <p:spPr>
          <a:xfrm>
            <a:off x="1097280" y="52303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Anomaly Detection</a:t>
            </a:r>
            <a:endParaRPr/>
          </a:p>
        </p:txBody>
      </p:sp>
      <p:sp>
        <p:nvSpPr>
          <p:cNvPr id="263" name="Google Shape;263;p6"/>
          <p:cNvSpPr txBox="1"/>
          <p:nvPr/>
        </p:nvSpPr>
        <p:spPr>
          <a:xfrm>
            <a:off x="502920" y="56692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Isolation Forest at product level — flag products with abnormal review patterns (top 10%)</a:t>
            </a:r>
            <a:endParaRPr/>
          </a:p>
        </p:txBody>
      </p:sp>
      <p:sp>
        <p:nvSpPr>
          <p:cNvPr id="264" name="Google Shape;264;p6"/>
          <p:cNvSpPr/>
          <p:nvPr/>
        </p:nvSpPr>
        <p:spPr>
          <a:xfrm>
            <a:off x="4206240" y="5120640"/>
            <a:ext cx="3566160" cy="155448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4343400" y="5257800"/>
            <a:ext cx="457200" cy="347472"/>
          </a:xfrm>
          <a:prstGeom prst="roundRect">
            <a:avLst>
              <a:gd fmla="val 15000" name="adj"/>
            </a:avLst>
          </a:prstGeom>
          <a:solidFill>
            <a:srgbClr val="FF6B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266" name="Google Shape;266;p6"/>
          <p:cNvSpPr txBox="1"/>
          <p:nvPr/>
        </p:nvSpPr>
        <p:spPr>
          <a:xfrm>
            <a:off x="4937760" y="52303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/>
          </a:p>
        </p:txBody>
      </p:sp>
      <p:sp>
        <p:nvSpPr>
          <p:cNvPr id="267" name="Google Shape;267;p6"/>
          <p:cNvSpPr txBox="1"/>
          <p:nvPr/>
        </p:nvSpPr>
        <p:spPr>
          <a:xfrm>
            <a:off x="4343400" y="56692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Train Naive Bayes, Logistic Regression, Random Forest on unified 106-feature matrix</a:t>
            </a:r>
            <a:endParaRPr/>
          </a:p>
        </p:txBody>
      </p:sp>
      <p:sp>
        <p:nvSpPr>
          <p:cNvPr id="268" name="Google Shape;268;p6"/>
          <p:cNvSpPr/>
          <p:nvPr/>
        </p:nvSpPr>
        <p:spPr>
          <a:xfrm>
            <a:off x="8046720" y="5120640"/>
            <a:ext cx="3566160" cy="155448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8183880" y="5257800"/>
            <a:ext cx="457200" cy="347472"/>
          </a:xfrm>
          <a:prstGeom prst="roundRect">
            <a:avLst>
              <a:gd fmla="val 15000" name="adj"/>
            </a:avLst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270" name="Google Shape;270;p6"/>
          <p:cNvSpPr txBox="1"/>
          <p:nvPr/>
        </p:nvSpPr>
        <p:spPr>
          <a:xfrm>
            <a:off x="8778240" y="5230368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/>
          </a:p>
        </p:txBody>
      </p:sp>
      <p:sp>
        <p:nvSpPr>
          <p:cNvPr id="271" name="Google Shape;271;p6"/>
          <p:cNvSpPr txBox="1"/>
          <p:nvPr/>
        </p:nvSpPr>
        <p:spPr>
          <a:xfrm>
            <a:off x="8183880" y="5669280"/>
            <a:ext cx="32918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Word clouds, confusion matrices, feature importance plots, model comparison charts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"/>
          <p:cNvSpPr/>
          <p:nvPr/>
        </p:nvSpPr>
        <p:spPr>
          <a:xfrm>
            <a:off x="548640" y="457200"/>
            <a:ext cx="640080" cy="502920"/>
          </a:xfrm>
          <a:prstGeom prst="roundRect">
            <a:avLst>
              <a:gd fmla="val 15000" name="adj"/>
            </a:avLst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1371600" y="384048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Deep Dive — Stages 1–3</a:t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1371600" y="1005840"/>
            <a:ext cx="1097280" cy="36576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 txBox="1"/>
          <p:nvPr/>
        </p:nvSpPr>
        <p:spPr>
          <a:xfrm>
            <a:off x="1371600" y="114300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Data preprocessing, EDA, and feature engineering</a:t>
            </a:r>
            <a:endParaRPr/>
          </a:p>
        </p:txBody>
      </p:sp>
      <p:sp>
        <p:nvSpPr>
          <p:cNvPr id="280" name="Google Shape;280;p7"/>
          <p:cNvSpPr/>
          <p:nvPr/>
        </p:nvSpPr>
        <p:spPr>
          <a:xfrm>
            <a:off x="548640" y="1554480"/>
            <a:ext cx="5303520" cy="484632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 txBox="1"/>
          <p:nvPr/>
        </p:nvSpPr>
        <p:spPr>
          <a:xfrm>
            <a:off x="822960" y="16916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📊  Exploratory Data Analysis</a:t>
            </a:r>
            <a:endParaRPr/>
          </a:p>
        </p:txBody>
      </p:sp>
      <p:pic>
        <p:nvPicPr>
          <p:cNvPr descr="eda_03_class_balance.png" id="282" name="Google Shape;2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4675" y="2194575"/>
            <a:ext cx="4422751" cy="20116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da_05_length_by_label.png" id="283" name="Google Shape;28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575" y="4341800"/>
            <a:ext cx="4385850" cy="176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7"/>
          <p:cNvSpPr/>
          <p:nvPr/>
        </p:nvSpPr>
        <p:spPr>
          <a:xfrm>
            <a:off x="6400800" y="1554480"/>
            <a:ext cx="5212080" cy="484632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 txBox="1"/>
          <p:nvPr/>
        </p:nvSpPr>
        <p:spPr>
          <a:xfrm>
            <a:off x="6675120" y="169164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⚙️  Feature Engineering Pipeline</a:t>
            </a:r>
            <a:endParaRPr/>
          </a:p>
        </p:txBody>
      </p:sp>
      <p:sp>
        <p:nvSpPr>
          <p:cNvPr id="286" name="Google Shape;286;p7"/>
          <p:cNvSpPr txBox="1"/>
          <p:nvPr/>
        </p:nvSpPr>
        <p:spPr>
          <a:xfrm>
            <a:off x="6675120" y="2194560"/>
            <a:ext cx="466344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Text Cleaning: Remove URLs, punctuation → lowercase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Tokenization: Split into individual words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Stopword Removal: Filter common English words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Stemming: Porter stemmer reduces to root forms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TF-IDF: Top 5,000 terms weighted by importance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Handcrafted Features:</a:t>
            </a:r>
            <a:endParaRPr/>
          </a:p>
        </p:txBody>
      </p:sp>
      <p:sp>
        <p:nvSpPr>
          <p:cNvPr id="287" name="Google Shape;287;p7"/>
          <p:cNvSpPr txBox="1"/>
          <p:nvPr/>
        </p:nvSpPr>
        <p:spPr>
          <a:xfrm>
            <a:off x="6858000" y="42062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  review_length  </a:t>
            </a:r>
            <a:r>
              <a:rPr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→  Word count of review text</a:t>
            </a:r>
            <a:endParaRPr/>
          </a:p>
        </p:txBody>
      </p:sp>
      <p:sp>
        <p:nvSpPr>
          <p:cNvPr id="288" name="Google Shape;288;p7"/>
          <p:cNvSpPr txBox="1"/>
          <p:nvPr/>
        </p:nvSpPr>
        <p:spPr>
          <a:xfrm>
            <a:off x="6858000" y="455371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  exclaim_count  </a:t>
            </a:r>
            <a:r>
              <a:rPr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→  Number of '!' characters</a:t>
            </a:r>
            <a:endParaRPr/>
          </a:p>
        </p:txBody>
      </p:sp>
      <p:sp>
        <p:nvSpPr>
          <p:cNvPr id="289" name="Google Shape;289;p7"/>
          <p:cNvSpPr txBox="1"/>
          <p:nvPr/>
        </p:nvSpPr>
        <p:spPr>
          <a:xfrm>
            <a:off x="6858000" y="4901183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  caps_ratio  </a:t>
            </a:r>
            <a:r>
              <a:rPr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→  Uppercase letters / total chars</a:t>
            </a:r>
            <a:endParaRPr/>
          </a:p>
        </p:txBody>
      </p:sp>
      <p:sp>
        <p:nvSpPr>
          <p:cNvPr id="290" name="Google Shape;290;p7"/>
          <p:cNvSpPr txBox="1"/>
          <p:nvPr/>
        </p:nvSpPr>
        <p:spPr>
          <a:xfrm>
            <a:off x="6858000" y="5248656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  avg_word_len  </a:t>
            </a:r>
            <a:r>
              <a:rPr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→  Average word length in chars</a:t>
            </a:r>
            <a:endParaRPr/>
          </a:p>
        </p:txBody>
      </p:sp>
      <p:sp>
        <p:nvSpPr>
          <p:cNvPr id="291" name="Google Shape;291;p7"/>
          <p:cNvSpPr txBox="1"/>
          <p:nvPr/>
        </p:nvSpPr>
        <p:spPr>
          <a:xfrm>
            <a:off x="6858000" y="5596127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  sentiment_score  </a:t>
            </a:r>
            <a:r>
              <a:rPr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→  VADER compound score [-1, 1]</a:t>
            </a:r>
            <a:endParaRPr/>
          </a:p>
        </p:txBody>
      </p:sp>
      <p:sp>
        <p:nvSpPr>
          <p:cNvPr id="292" name="Google Shape;292;p7"/>
          <p:cNvSpPr txBox="1"/>
          <p:nvPr/>
        </p:nvSpPr>
        <p:spPr>
          <a:xfrm>
            <a:off x="6858000" y="59436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0A500"/>
                </a:solidFill>
                <a:latin typeface="Consolas"/>
                <a:ea typeface="Consolas"/>
                <a:cs typeface="Consolas"/>
                <a:sym typeface="Consolas"/>
              </a:rPr>
              <a:t>  rating_mismatch  </a:t>
            </a:r>
            <a:r>
              <a:rPr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→  High rating + neg sentiment → flag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8"/>
          <p:cNvSpPr/>
          <p:nvPr/>
        </p:nvSpPr>
        <p:spPr>
          <a:xfrm>
            <a:off x="548640" y="457200"/>
            <a:ext cx="640080" cy="502920"/>
          </a:xfrm>
          <a:prstGeom prst="roundRect">
            <a:avLst>
              <a:gd fmla="val 15000" name="adj"/>
            </a:avLst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298" name="Google Shape;298;p8"/>
          <p:cNvSpPr txBox="1"/>
          <p:nvPr/>
        </p:nvSpPr>
        <p:spPr>
          <a:xfrm>
            <a:off x="1371600" y="384048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Deep Dive — Stages 4–5</a:t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1371600" y="1005840"/>
            <a:ext cx="1097280" cy="36576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 txBox="1"/>
          <p:nvPr/>
        </p:nvSpPr>
        <p:spPr>
          <a:xfrm>
            <a:off x="1371600" y="114300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Sentiment analysis with VADER and topic modeling with LDA</a:t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548640" y="1554480"/>
            <a:ext cx="5303520" cy="484632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 txBox="1"/>
          <p:nvPr/>
        </p:nvSpPr>
        <p:spPr>
          <a:xfrm>
            <a:off x="822960" y="16916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💡  VADER Sentiment Analysis</a:t>
            </a:r>
            <a:endParaRPr/>
          </a:p>
        </p:txBody>
      </p:sp>
      <p:sp>
        <p:nvSpPr>
          <p:cNvPr id="303" name="Google Shape;303;p8"/>
          <p:cNvSpPr txBox="1"/>
          <p:nvPr/>
        </p:nvSpPr>
        <p:spPr>
          <a:xfrm>
            <a:off x="822960" y="2194560"/>
            <a:ext cx="475488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VADER: Valence Aware Dictionary for Sentiment Reasoning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Compound score range: -1 (negative) to +1 (positive)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Batch processing: 1000 reviews per batch with progress tracking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insight: Fake reviews show different sentiment distributions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Rating Mismatch Feature: 5★ review + negative sentiment → suspicious</a:t>
            </a:r>
            <a:endParaRPr/>
          </a:p>
        </p:txBody>
      </p:sp>
      <p:pic>
        <p:nvPicPr>
          <p:cNvPr descr="fig09_sentiment_by_label.png" id="304" name="Google Shape;3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50" y="3897400"/>
            <a:ext cx="4754899" cy="2766699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8"/>
          <p:cNvSpPr/>
          <p:nvPr/>
        </p:nvSpPr>
        <p:spPr>
          <a:xfrm>
            <a:off x="6400800" y="1554480"/>
            <a:ext cx="5212080" cy="484632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 txBox="1"/>
          <p:nvPr/>
        </p:nvSpPr>
        <p:spPr>
          <a:xfrm>
            <a:off x="6675120" y="169164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📚  LDA Topic Modeling</a:t>
            </a:r>
            <a:endParaRPr/>
          </a:p>
        </p:txBody>
      </p:sp>
      <p:sp>
        <p:nvSpPr>
          <p:cNvPr id="307" name="Google Shape;307;p8"/>
          <p:cNvSpPr txBox="1"/>
          <p:nvPr/>
        </p:nvSpPr>
        <p:spPr>
          <a:xfrm>
            <a:off x="6675120" y="2194560"/>
            <a:ext cx="466344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Latent Dirichlet Allocation with k=8 topics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Discovers hidden thematic patterns in review text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Reveals that fake reviews cluster around specific generic topics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Genuine reviews show more specific, product-related vocabulary</a:t>
            </a:r>
            <a:endParaRPr/>
          </a:p>
        </p:txBody>
      </p:sp>
      <p:pic>
        <p:nvPicPr>
          <p:cNvPr descr="fig10_lda_top_terms.png" id="308" name="Google Shape;30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0" y="3840480"/>
            <a:ext cx="4663440" cy="2664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"/>
          <p:cNvSpPr/>
          <p:nvPr/>
        </p:nvSpPr>
        <p:spPr>
          <a:xfrm>
            <a:off x="548640" y="457200"/>
            <a:ext cx="640080" cy="502920"/>
          </a:xfrm>
          <a:prstGeom prst="roundRect">
            <a:avLst>
              <a:gd fmla="val 15000" name="adj"/>
            </a:avLst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314" name="Google Shape;314;p9"/>
          <p:cNvSpPr txBox="1"/>
          <p:nvPr/>
        </p:nvSpPr>
        <p:spPr>
          <a:xfrm>
            <a:off x="1371600" y="384048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Deep Dive — Stages 6–7</a:t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1371600" y="1005840"/>
            <a:ext cx="1097280" cy="36576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1371600" y="114300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Network graph analysis and Isolation Forest anomaly detection</a:t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548640" y="1554480"/>
            <a:ext cx="5303520" cy="484632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 txBox="1"/>
          <p:nvPr/>
        </p:nvSpPr>
        <p:spPr>
          <a:xfrm>
            <a:off x="822960" y="16916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🌐  Reviewer Network Analysis</a:t>
            </a:r>
            <a:endParaRPr/>
          </a:p>
        </p:txBody>
      </p:sp>
      <p:sp>
        <p:nvSpPr>
          <p:cNvPr id="319" name="Google Shape;319;p9"/>
          <p:cNvSpPr txBox="1"/>
          <p:nvPr/>
        </p:nvSpPr>
        <p:spPr>
          <a:xfrm>
            <a:off x="822960" y="2194560"/>
            <a:ext cx="47548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Co-review detection: Reviews on same product within 48 hours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Builds reviewer↔reviewer edges weighted by shared activity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Connected component analysis to find suspicious clusters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Clusters with &gt;3 members flagged as coordinated fraud rings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Features: five_star_ratio, review_velocity, burst_score</a:t>
            </a:r>
            <a:endParaRPr/>
          </a:p>
        </p:txBody>
      </p:sp>
      <p:pic>
        <p:nvPicPr>
          <p:cNvPr descr="fig14_reviewer_graph.png" id="320" name="Google Shape;3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6125" y="3761675"/>
            <a:ext cx="3407600" cy="2674276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9"/>
          <p:cNvSpPr/>
          <p:nvPr/>
        </p:nvSpPr>
        <p:spPr>
          <a:xfrm>
            <a:off x="6400800" y="1554480"/>
            <a:ext cx="5212080" cy="484632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 txBox="1"/>
          <p:nvPr/>
        </p:nvSpPr>
        <p:spPr>
          <a:xfrm>
            <a:off x="6675120" y="169164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🔍  Isolation Forest Anomaly Detection</a:t>
            </a:r>
            <a:endParaRPr/>
          </a:p>
        </p:txBody>
      </p:sp>
      <p:sp>
        <p:nvSpPr>
          <p:cNvPr id="323" name="Google Shape;323;p9"/>
          <p:cNvSpPr txBox="1"/>
          <p:nvPr/>
        </p:nvSpPr>
        <p:spPr>
          <a:xfrm>
            <a:off x="6675120" y="2194560"/>
            <a:ext cx="46634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Product-level aggregation: review_count, avg_rating, rating_variance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Isolation Forest with 100 trees, contamination threshold at 90th %ile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Detects products with statistically abnormal review patterns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10% most anomalous products flagged automatically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Flags coordinated review flooding on specific products</a:t>
            </a:r>
            <a:endParaRPr/>
          </a:p>
        </p:txBody>
      </p:sp>
      <p:pic>
        <p:nvPicPr>
          <p:cNvPr descr="fig15_anomaly_scatter.png" id="324" name="Google Shape;32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0" y="4074475"/>
            <a:ext cx="4389126" cy="2361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"/>
          <p:cNvSpPr/>
          <p:nvPr/>
        </p:nvSpPr>
        <p:spPr>
          <a:xfrm>
            <a:off x="548640" y="457200"/>
            <a:ext cx="640080" cy="502920"/>
          </a:xfrm>
          <a:prstGeom prst="roundRect">
            <a:avLst>
              <a:gd fmla="val 15000" name="adj"/>
            </a:avLst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330" name="Google Shape;330;p10"/>
          <p:cNvSpPr txBox="1"/>
          <p:nvPr/>
        </p:nvSpPr>
        <p:spPr>
          <a:xfrm>
            <a:off x="1371600" y="384048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 — Web Application</a:t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1371600" y="1005840"/>
            <a:ext cx="1097280" cy="36576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0"/>
          <p:cNvSpPr txBox="1"/>
          <p:nvPr/>
        </p:nvSpPr>
        <p:spPr>
          <a:xfrm>
            <a:off x="1371600" y="114300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Real-time fake review prediction through a modern web interface</a:t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548640" y="1554480"/>
            <a:ext cx="4114800" cy="484632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 txBox="1"/>
          <p:nvPr/>
        </p:nvSpPr>
        <p:spPr>
          <a:xfrm>
            <a:off x="822960" y="1691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🖥️  Live Prediction Interface</a:t>
            </a:r>
            <a:endParaRPr/>
          </a:p>
        </p:txBody>
      </p:sp>
      <p:sp>
        <p:nvSpPr>
          <p:cNvPr id="335" name="Google Shape;335;p10"/>
          <p:cNvSpPr txBox="1"/>
          <p:nvPr/>
        </p:nvSpPr>
        <p:spPr>
          <a:xfrm>
            <a:off x="822960" y="2194560"/>
            <a:ext cx="3657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Users paste any review text and select a star rating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 Plumber API processes the text through the full pipeline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Returns prediction: Genuine or Fake with confidence percentage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Displays individual feature scores (sentiment, length, caps ratio)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Shows visual risk breakdown and trust score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with modern HTML/CSS/JS — responsive design</a:t>
            </a:r>
            <a:endParaRPr/>
          </a:p>
        </p:txBody>
      </p:sp>
      <p:sp>
        <p:nvSpPr>
          <p:cNvPr id="336" name="Google Shape;336;p10"/>
          <p:cNvSpPr txBox="1"/>
          <p:nvPr/>
        </p:nvSpPr>
        <p:spPr>
          <a:xfrm>
            <a:off x="822960" y="49377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API ENDPOINT</a:t>
            </a:r>
            <a:endParaRPr/>
          </a:p>
        </p:txBody>
      </p:sp>
      <p:sp>
        <p:nvSpPr>
          <p:cNvPr id="337" name="Google Shape;337;p10"/>
          <p:cNvSpPr txBox="1"/>
          <p:nvPr/>
        </p:nvSpPr>
        <p:spPr>
          <a:xfrm>
            <a:off x="822960" y="521208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POST /predict</a:t>
            </a:r>
            <a:b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→ { text, rating } → { prediction, confidence, features }</a:t>
            </a:r>
            <a:endParaRPr/>
          </a:p>
        </p:txBody>
      </p:sp>
      <p:pic>
        <p:nvPicPr>
          <p:cNvPr descr="screenshot_hero.png" id="338" name="Google Shape;3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640" y="1554480"/>
            <a:ext cx="3383280" cy="33613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reenshot_prediction.png" id="339" name="Google Shape;33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0" y="1554480"/>
            <a:ext cx="3108960" cy="3088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1"/>
          <p:cNvSpPr/>
          <p:nvPr/>
        </p:nvSpPr>
        <p:spPr>
          <a:xfrm>
            <a:off x="548640" y="457200"/>
            <a:ext cx="640080" cy="502920"/>
          </a:xfrm>
          <a:prstGeom prst="roundRect">
            <a:avLst>
              <a:gd fmla="val 15000" name="adj"/>
            </a:avLst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  <p:sp>
        <p:nvSpPr>
          <p:cNvPr id="345" name="Google Shape;345;p11"/>
          <p:cNvSpPr txBox="1"/>
          <p:nvPr/>
        </p:nvSpPr>
        <p:spPr>
          <a:xfrm>
            <a:off x="1371600" y="384048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Evaluation</a:t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1371600" y="1005840"/>
            <a:ext cx="1097280" cy="36576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1"/>
          <p:cNvSpPr txBox="1"/>
          <p:nvPr/>
        </p:nvSpPr>
        <p:spPr>
          <a:xfrm>
            <a:off x="1371600" y="114300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Comprehensive performance comparison across three classifiers</a:t>
            </a:r>
            <a:endParaRPr/>
          </a:p>
        </p:txBody>
      </p:sp>
      <p:sp>
        <p:nvSpPr>
          <p:cNvPr id="348" name="Google Shape;348;p11"/>
          <p:cNvSpPr/>
          <p:nvPr/>
        </p:nvSpPr>
        <p:spPr>
          <a:xfrm>
            <a:off x="548640" y="1554480"/>
            <a:ext cx="6400800" cy="292608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1"/>
          <p:cNvSpPr txBox="1"/>
          <p:nvPr/>
        </p:nvSpPr>
        <p:spPr>
          <a:xfrm>
            <a:off x="822972" y="1636778"/>
            <a:ext cx="585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 Performance Comparison</a:t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731520" y="2194560"/>
            <a:ext cx="6217920" cy="365760"/>
          </a:xfrm>
          <a:prstGeom prst="roundRect">
            <a:avLst>
              <a:gd fmla="val 2000" name="adj"/>
            </a:avLst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 txBox="1"/>
          <p:nvPr/>
        </p:nvSpPr>
        <p:spPr>
          <a:xfrm>
            <a:off x="822960" y="224028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/>
          </a:p>
        </p:txBody>
      </p:sp>
      <p:sp>
        <p:nvSpPr>
          <p:cNvPr id="352" name="Google Shape;352;p11"/>
          <p:cNvSpPr txBox="1"/>
          <p:nvPr/>
        </p:nvSpPr>
        <p:spPr>
          <a:xfrm>
            <a:off x="2834640" y="224028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/>
          </a:p>
        </p:txBody>
      </p:sp>
      <p:sp>
        <p:nvSpPr>
          <p:cNvPr id="353" name="Google Shape;353;p11"/>
          <p:cNvSpPr txBox="1"/>
          <p:nvPr/>
        </p:nvSpPr>
        <p:spPr>
          <a:xfrm>
            <a:off x="3840480" y="2240280"/>
            <a:ext cx="1005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</a:t>
            </a:r>
            <a:endParaRPr/>
          </a:p>
        </p:txBody>
      </p:sp>
      <p:sp>
        <p:nvSpPr>
          <p:cNvPr id="354" name="Google Shape;354;p11"/>
          <p:cNvSpPr txBox="1"/>
          <p:nvPr/>
        </p:nvSpPr>
        <p:spPr>
          <a:xfrm>
            <a:off x="4846320" y="224028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Recall</a:t>
            </a:r>
            <a:endParaRPr/>
          </a:p>
        </p:txBody>
      </p:sp>
      <p:sp>
        <p:nvSpPr>
          <p:cNvPr id="355" name="Google Shape;355;p11"/>
          <p:cNvSpPr txBox="1"/>
          <p:nvPr/>
        </p:nvSpPr>
        <p:spPr>
          <a:xfrm>
            <a:off x="5852160" y="224028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/>
          </a:p>
        </p:txBody>
      </p:sp>
      <p:sp>
        <p:nvSpPr>
          <p:cNvPr id="356" name="Google Shape;356;p11"/>
          <p:cNvSpPr txBox="1"/>
          <p:nvPr/>
        </p:nvSpPr>
        <p:spPr>
          <a:xfrm>
            <a:off x="822960" y="267919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Naive Bayes</a:t>
            </a:r>
            <a:endParaRPr/>
          </a:p>
        </p:txBody>
      </p:sp>
      <p:sp>
        <p:nvSpPr>
          <p:cNvPr id="357" name="Google Shape;357;p11"/>
          <p:cNvSpPr txBox="1"/>
          <p:nvPr/>
        </p:nvSpPr>
        <p:spPr>
          <a:xfrm>
            <a:off x="2834640" y="267919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0.668</a:t>
            </a:r>
            <a:endParaRPr/>
          </a:p>
        </p:txBody>
      </p:sp>
      <p:sp>
        <p:nvSpPr>
          <p:cNvPr id="358" name="Google Shape;358;p11"/>
          <p:cNvSpPr txBox="1"/>
          <p:nvPr/>
        </p:nvSpPr>
        <p:spPr>
          <a:xfrm>
            <a:off x="3840480" y="267919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0.694</a:t>
            </a:r>
            <a:endParaRPr/>
          </a:p>
        </p:txBody>
      </p:sp>
      <p:sp>
        <p:nvSpPr>
          <p:cNvPr id="359" name="Google Shape;359;p11"/>
          <p:cNvSpPr txBox="1"/>
          <p:nvPr/>
        </p:nvSpPr>
        <p:spPr>
          <a:xfrm>
            <a:off x="4846320" y="267919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0.584</a:t>
            </a:r>
            <a:endParaRPr/>
          </a:p>
        </p:txBody>
      </p:sp>
      <p:sp>
        <p:nvSpPr>
          <p:cNvPr id="360" name="Google Shape;360;p11"/>
          <p:cNvSpPr txBox="1"/>
          <p:nvPr/>
        </p:nvSpPr>
        <p:spPr>
          <a:xfrm>
            <a:off x="5852160" y="267919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0.634</a:t>
            </a:r>
            <a:endParaRPr/>
          </a:p>
        </p:txBody>
      </p:sp>
      <p:sp>
        <p:nvSpPr>
          <p:cNvPr id="361" name="Google Shape;361;p11"/>
          <p:cNvSpPr txBox="1"/>
          <p:nvPr/>
        </p:nvSpPr>
        <p:spPr>
          <a:xfrm>
            <a:off x="822960" y="318211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Logistic Regression</a:t>
            </a:r>
            <a:endParaRPr/>
          </a:p>
        </p:txBody>
      </p:sp>
      <p:sp>
        <p:nvSpPr>
          <p:cNvPr id="362" name="Google Shape;362;p11"/>
          <p:cNvSpPr txBox="1"/>
          <p:nvPr/>
        </p:nvSpPr>
        <p:spPr>
          <a:xfrm>
            <a:off x="2834640" y="318211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0.685</a:t>
            </a:r>
            <a:endParaRPr/>
          </a:p>
        </p:txBody>
      </p:sp>
      <p:sp>
        <p:nvSpPr>
          <p:cNvPr id="363" name="Google Shape;363;p11"/>
          <p:cNvSpPr txBox="1"/>
          <p:nvPr/>
        </p:nvSpPr>
        <p:spPr>
          <a:xfrm>
            <a:off x="3840480" y="318211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0.664</a:t>
            </a:r>
            <a:endParaRPr/>
          </a:p>
        </p:txBody>
      </p:sp>
      <p:sp>
        <p:nvSpPr>
          <p:cNvPr id="364" name="Google Shape;364;p11"/>
          <p:cNvSpPr txBox="1"/>
          <p:nvPr/>
        </p:nvSpPr>
        <p:spPr>
          <a:xfrm>
            <a:off x="4846320" y="318211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0.767</a:t>
            </a:r>
            <a:endParaRPr/>
          </a:p>
        </p:txBody>
      </p:sp>
      <p:sp>
        <p:nvSpPr>
          <p:cNvPr id="365" name="Google Shape;365;p11"/>
          <p:cNvSpPr txBox="1"/>
          <p:nvPr/>
        </p:nvSpPr>
        <p:spPr>
          <a:xfrm>
            <a:off x="5852160" y="318211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0.712</a:t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731520" y="3611880"/>
            <a:ext cx="6217920" cy="411480"/>
          </a:xfrm>
          <a:prstGeom prst="roundRect">
            <a:avLst>
              <a:gd fmla="val 2000" name="adj"/>
            </a:avLst>
          </a:prstGeom>
          <a:solidFill>
            <a:srgbClr val="0A2A1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 txBox="1"/>
          <p:nvPr/>
        </p:nvSpPr>
        <p:spPr>
          <a:xfrm>
            <a:off x="822960" y="368503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Random Forest  ★</a:t>
            </a:r>
            <a:endParaRPr/>
          </a:p>
        </p:txBody>
      </p:sp>
      <p:sp>
        <p:nvSpPr>
          <p:cNvPr id="368" name="Google Shape;368;p11"/>
          <p:cNvSpPr txBox="1"/>
          <p:nvPr/>
        </p:nvSpPr>
        <p:spPr>
          <a:xfrm>
            <a:off x="2834640" y="368503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0.859</a:t>
            </a:r>
            <a:endParaRPr/>
          </a:p>
        </p:txBody>
      </p:sp>
      <p:sp>
        <p:nvSpPr>
          <p:cNvPr id="369" name="Google Shape;369;p11"/>
          <p:cNvSpPr txBox="1"/>
          <p:nvPr/>
        </p:nvSpPr>
        <p:spPr>
          <a:xfrm>
            <a:off x="3840480" y="368503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0.857</a:t>
            </a:r>
            <a:endParaRPr/>
          </a:p>
        </p:txBody>
      </p:sp>
      <p:sp>
        <p:nvSpPr>
          <p:cNvPr id="370" name="Google Shape;370;p11"/>
          <p:cNvSpPr txBox="1"/>
          <p:nvPr/>
        </p:nvSpPr>
        <p:spPr>
          <a:xfrm>
            <a:off x="4846320" y="368503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0.862</a:t>
            </a:r>
            <a:endParaRPr/>
          </a:p>
        </p:txBody>
      </p:sp>
      <p:sp>
        <p:nvSpPr>
          <p:cNvPr id="371" name="Google Shape;371;p11"/>
          <p:cNvSpPr txBox="1"/>
          <p:nvPr/>
        </p:nvSpPr>
        <p:spPr>
          <a:xfrm>
            <a:off x="5852160" y="368503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0.860</a:t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7267525" y="1042430"/>
            <a:ext cx="4297800" cy="292620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 txBox="1"/>
          <p:nvPr/>
        </p:nvSpPr>
        <p:spPr>
          <a:xfrm>
            <a:off x="7405645" y="1105965"/>
            <a:ext cx="374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Confusion Matrix (RF)</a:t>
            </a:r>
            <a:endParaRPr/>
          </a:p>
        </p:txBody>
      </p:sp>
      <p:pic>
        <p:nvPicPr>
          <p:cNvPr descr="fig17_confusion_matrix.png" id="374" name="Google Shape;37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7150" y="1411220"/>
            <a:ext cx="36576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1"/>
          <p:cNvSpPr/>
          <p:nvPr/>
        </p:nvSpPr>
        <p:spPr>
          <a:xfrm>
            <a:off x="548628" y="4581130"/>
            <a:ext cx="5486400" cy="192030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 txBox="1"/>
          <p:nvPr/>
        </p:nvSpPr>
        <p:spPr>
          <a:xfrm>
            <a:off x="822947" y="4590265"/>
            <a:ext cx="493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🏆  Feature Importance (Random Forest)</a:t>
            </a:r>
            <a:endParaRPr/>
          </a:p>
        </p:txBody>
      </p:sp>
      <p:pic>
        <p:nvPicPr>
          <p:cNvPr descr="fig18_feature_importance.png" id="377" name="Google Shape;37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75" y="4926028"/>
            <a:ext cx="5029200" cy="17491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1"/>
          <p:cNvSpPr/>
          <p:nvPr/>
        </p:nvSpPr>
        <p:spPr>
          <a:xfrm>
            <a:off x="6858000" y="4550580"/>
            <a:ext cx="5212200" cy="192030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 txBox="1"/>
          <p:nvPr/>
        </p:nvSpPr>
        <p:spPr>
          <a:xfrm>
            <a:off x="6948483" y="4561290"/>
            <a:ext cx="466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📈  Model Comparison Chart</a:t>
            </a:r>
            <a:endParaRPr/>
          </a:p>
        </p:txBody>
      </p:sp>
      <p:pic>
        <p:nvPicPr>
          <p:cNvPr descr="fig19_model_comparison.png" id="380" name="Google Shape;38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84700" y="4892052"/>
            <a:ext cx="4663449" cy="1783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2"/>
          <p:cNvSpPr/>
          <p:nvPr/>
        </p:nvSpPr>
        <p:spPr>
          <a:xfrm>
            <a:off x="548640" y="457200"/>
            <a:ext cx="640080" cy="502920"/>
          </a:xfrm>
          <a:prstGeom prst="roundRect">
            <a:avLst>
              <a:gd fmla="val 15000" name="adj"/>
            </a:avLst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386" name="Google Shape;386;p12"/>
          <p:cNvSpPr txBox="1"/>
          <p:nvPr/>
        </p:nvSpPr>
        <p:spPr>
          <a:xfrm>
            <a:off x="1371600" y="384048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Novelty &amp; Key Contributions</a:t>
            </a:r>
            <a:endParaRPr/>
          </a:p>
        </p:txBody>
      </p:sp>
      <p:sp>
        <p:nvSpPr>
          <p:cNvPr id="387" name="Google Shape;387;p12"/>
          <p:cNvSpPr/>
          <p:nvPr/>
        </p:nvSpPr>
        <p:spPr>
          <a:xfrm>
            <a:off x="1371600" y="1005840"/>
            <a:ext cx="1097280" cy="36576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 txBox="1"/>
          <p:nvPr/>
        </p:nvSpPr>
        <p:spPr>
          <a:xfrm>
            <a:off x="1371600" y="114300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What makes our approach unique and impactful</a:t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548640" y="1554480"/>
            <a:ext cx="5394960" cy="141732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548640" y="1554480"/>
            <a:ext cx="54864" cy="1417320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 txBox="1"/>
          <p:nvPr/>
        </p:nvSpPr>
        <p:spPr>
          <a:xfrm>
            <a:off x="731520" y="16459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🔗  Multi-Signal Fusion</a:t>
            </a:r>
            <a:endParaRPr/>
          </a:p>
        </p:txBody>
      </p:sp>
      <p:sp>
        <p:nvSpPr>
          <p:cNvPr id="392" name="Google Shape;392;p12"/>
          <p:cNvSpPr txBox="1"/>
          <p:nvPr/>
        </p:nvSpPr>
        <p:spPr>
          <a:xfrm>
            <a:off x="731520" y="201168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Unlike single-approach systems, we combine three distinct analysis dimensions — textual (TF-IDF + NLP), behavioral (sentiment mismatches), and structural (reviewer networks + anomaly detection) — into a unified 106-feature matrix.</a:t>
            </a:r>
            <a:endParaRPr/>
          </a:p>
        </p:txBody>
      </p:sp>
      <p:sp>
        <p:nvSpPr>
          <p:cNvPr id="393" name="Google Shape;393;p12"/>
          <p:cNvSpPr/>
          <p:nvPr/>
        </p:nvSpPr>
        <p:spPr>
          <a:xfrm>
            <a:off x="6217920" y="1554480"/>
            <a:ext cx="5394960" cy="141732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6217920" y="1554480"/>
            <a:ext cx="54864" cy="1417320"/>
          </a:xfrm>
          <a:prstGeom prst="rect">
            <a:avLst/>
          </a:prstGeom>
          <a:solidFill>
            <a:srgbClr val="FF6B6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 txBox="1"/>
          <p:nvPr/>
        </p:nvSpPr>
        <p:spPr>
          <a:xfrm>
            <a:off x="6400800" y="16459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🌐  Graph-Based Fraud Ring Detection</a:t>
            </a:r>
            <a:endParaRPr/>
          </a:p>
        </p:txBody>
      </p:sp>
      <p:sp>
        <p:nvSpPr>
          <p:cNvPr id="396" name="Google Shape;396;p12"/>
          <p:cNvSpPr txBox="1"/>
          <p:nvPr/>
        </p:nvSpPr>
        <p:spPr>
          <a:xfrm>
            <a:off x="6400800" y="201168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Novel application of co-review temporal analysis with a 48-hour sliding window to construct reviewer-reviewer graphs and detect coordinated fake review campaigns using connected component analysis.</a:t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548640" y="3200400"/>
            <a:ext cx="5394960" cy="141732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548640" y="3200400"/>
            <a:ext cx="54864" cy="1417320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 txBox="1"/>
          <p:nvPr/>
        </p:nvSpPr>
        <p:spPr>
          <a:xfrm>
            <a:off x="731520" y="32918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📊  Rating-Sentiment Mismatch Feature</a:t>
            </a:r>
            <a:endParaRPr/>
          </a:p>
        </p:txBody>
      </p:sp>
      <p:sp>
        <p:nvSpPr>
          <p:cNvPr id="400" name="Google Shape;400;p12"/>
          <p:cNvSpPr txBox="1"/>
          <p:nvPr/>
        </p:nvSpPr>
        <p:spPr>
          <a:xfrm>
            <a:off x="731520" y="365760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Innovative cross-modal feature engineering: flagging reviews where star ratings contradict VADER sentiment scores (e.g., 5★ review with negative text) as a powerful fake review signal.</a:t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6217920" y="3200400"/>
            <a:ext cx="5394960" cy="141732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6217920" y="3200400"/>
            <a:ext cx="54864" cy="1417320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 txBox="1"/>
          <p:nvPr/>
        </p:nvSpPr>
        <p:spPr>
          <a:xfrm>
            <a:off x="6400800" y="32918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🔍  Product-Level Isolation Forest</a:t>
            </a:r>
            <a:endParaRPr/>
          </a:p>
        </p:txBody>
      </p:sp>
      <p:sp>
        <p:nvSpPr>
          <p:cNvPr id="404" name="Google Shape;404;p12"/>
          <p:cNvSpPr txBox="1"/>
          <p:nvPr/>
        </p:nvSpPr>
        <p:spPr>
          <a:xfrm>
            <a:off x="6400800" y="365760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Applying unsupervised anomaly detection at the product level rather than review level — detecting products with abnormal review patterns (flooding, unnatural rating distributions) that indicate coordinated manipulation.</a:t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548640" y="4846320"/>
            <a:ext cx="5394960" cy="141732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548640" y="4846320"/>
            <a:ext cx="54864" cy="1417320"/>
          </a:xfrm>
          <a:prstGeom prst="rect">
            <a:avLst/>
          </a:prstGeom>
          <a:solidFill>
            <a:srgbClr val="2CA2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2"/>
          <p:cNvSpPr txBox="1"/>
          <p:nvPr/>
        </p:nvSpPr>
        <p:spPr>
          <a:xfrm>
            <a:off x="731520" y="49377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2CA25F"/>
                </a:solidFill>
                <a:latin typeface="Calibri"/>
                <a:ea typeface="Calibri"/>
                <a:cs typeface="Calibri"/>
                <a:sym typeface="Calibri"/>
              </a:rPr>
              <a:t>🖥️  End-to-End Deployable System</a:t>
            </a:r>
            <a:endParaRPr/>
          </a:p>
        </p:txBody>
      </p:sp>
      <p:sp>
        <p:nvSpPr>
          <p:cNvPr id="408" name="Google Shape;408;p12"/>
          <p:cNvSpPr txBox="1"/>
          <p:nvPr/>
        </p:nvSpPr>
        <p:spPr>
          <a:xfrm>
            <a:off x="731520" y="530352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Complete pipeline from raw data to live prediction via Plumber REST API with a modern web interface — making the research practically deployable, not just an academic exercise.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3"/>
          <p:cNvSpPr/>
          <p:nvPr/>
        </p:nvSpPr>
        <p:spPr>
          <a:xfrm>
            <a:off x="548640" y="457200"/>
            <a:ext cx="640080" cy="502920"/>
          </a:xfrm>
          <a:prstGeom prst="roundRect">
            <a:avLst>
              <a:gd fmla="val 15000" name="adj"/>
            </a:avLst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414" name="Google Shape;414;p13"/>
          <p:cNvSpPr txBox="1"/>
          <p:nvPr/>
        </p:nvSpPr>
        <p:spPr>
          <a:xfrm>
            <a:off x="1371600" y="390858"/>
            <a:ext cx="9144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 Cloud Insights</a:t>
            </a: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1371600" y="1005840"/>
            <a:ext cx="1097280" cy="36576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 txBox="1"/>
          <p:nvPr/>
        </p:nvSpPr>
        <p:spPr>
          <a:xfrm>
            <a:off x="1371600" y="114300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Visual comparison of language patterns in fake vs genuine reviews</a:t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548640" y="1554480"/>
            <a:ext cx="5303520" cy="484632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 txBox="1"/>
          <p:nvPr/>
        </p:nvSpPr>
        <p:spPr>
          <a:xfrm>
            <a:off x="822960" y="16916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6B6B"/>
                </a:solidFill>
                <a:latin typeface="Calibri"/>
                <a:ea typeface="Calibri"/>
                <a:cs typeface="Calibri"/>
                <a:sym typeface="Calibri"/>
              </a:rPr>
              <a:t>🤖  Fake Reviews — Word Cloud</a:t>
            </a:r>
            <a:endParaRPr/>
          </a:p>
        </p:txBody>
      </p:sp>
      <p:pic>
        <p:nvPicPr>
          <p:cNvPr descr="fig20_wordcloud_fake.png" id="419" name="Google Shape;4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286000"/>
            <a:ext cx="4572000" cy="330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3"/>
          <p:cNvSpPr/>
          <p:nvPr/>
        </p:nvSpPr>
        <p:spPr>
          <a:xfrm>
            <a:off x="6400800" y="1554480"/>
            <a:ext cx="5212080" cy="484632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 txBox="1"/>
          <p:nvPr/>
        </p:nvSpPr>
        <p:spPr>
          <a:xfrm>
            <a:off x="6675120" y="169164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A25F"/>
                </a:solidFill>
                <a:latin typeface="Calibri"/>
                <a:ea typeface="Calibri"/>
                <a:cs typeface="Calibri"/>
                <a:sym typeface="Calibri"/>
              </a:rPr>
              <a:t>✅  Genuine Reviews — Word Cloud</a:t>
            </a:r>
            <a:endParaRPr/>
          </a:p>
        </p:txBody>
      </p:sp>
      <p:pic>
        <p:nvPicPr>
          <p:cNvPr descr="fig21_wordcloud_genuine.png" id="422" name="Google Shape;42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75120" y="2286000"/>
            <a:ext cx="4572000" cy="330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4"/>
          <p:cNvSpPr/>
          <p:nvPr/>
        </p:nvSpPr>
        <p:spPr>
          <a:xfrm>
            <a:off x="548640" y="457200"/>
            <a:ext cx="640080" cy="502920"/>
          </a:xfrm>
          <a:prstGeom prst="roundRect">
            <a:avLst>
              <a:gd fmla="val 15000" name="adj"/>
            </a:avLst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/>
          </a:p>
        </p:txBody>
      </p:sp>
      <p:sp>
        <p:nvSpPr>
          <p:cNvPr id="428" name="Google Shape;428;p14"/>
          <p:cNvSpPr txBox="1"/>
          <p:nvPr/>
        </p:nvSpPr>
        <p:spPr>
          <a:xfrm>
            <a:off x="1371600" y="384048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429" name="Google Shape;429;p14"/>
          <p:cNvSpPr/>
          <p:nvPr/>
        </p:nvSpPr>
        <p:spPr>
          <a:xfrm>
            <a:off x="1371600" y="1005840"/>
            <a:ext cx="1097280" cy="36576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 txBox="1"/>
          <p:nvPr/>
        </p:nvSpPr>
        <p:spPr>
          <a:xfrm>
            <a:off x="1371600" y="114300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Summary of findings and future directions</a:t>
            </a:r>
            <a:endParaRPr/>
          </a:p>
        </p:txBody>
      </p:sp>
      <p:sp>
        <p:nvSpPr>
          <p:cNvPr id="431" name="Google Shape;431;p14"/>
          <p:cNvSpPr/>
          <p:nvPr/>
        </p:nvSpPr>
        <p:spPr>
          <a:xfrm>
            <a:off x="548640" y="1554480"/>
            <a:ext cx="6583680" cy="274320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 txBox="1"/>
          <p:nvPr/>
        </p:nvSpPr>
        <p:spPr>
          <a:xfrm>
            <a:off x="822960" y="1691640"/>
            <a:ext cx="6035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CA25F"/>
                </a:solidFill>
                <a:latin typeface="Calibri"/>
                <a:ea typeface="Calibri"/>
                <a:cs typeface="Calibri"/>
                <a:sym typeface="Calibri"/>
              </a:rPr>
              <a:t>✅  Key Findings</a:t>
            </a:r>
            <a:endParaRPr/>
          </a:p>
        </p:txBody>
      </p:sp>
      <p:sp>
        <p:nvSpPr>
          <p:cNvPr id="433" name="Google Shape;433;p14"/>
          <p:cNvSpPr txBox="1"/>
          <p:nvPr/>
        </p:nvSpPr>
        <p:spPr>
          <a:xfrm>
            <a:off x="822960" y="2194560"/>
            <a:ext cx="603504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CA25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Forest with 106 features achieved 85.9% accuracy — best among all models tested.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CA25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Combining TF-IDF with behavioral features (caps, exclamations, sentiment) is more powerful than text alone.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CA25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Rating-sentiment mismatch is one of the strongest fake review signals discovered.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CA25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analysis successfully identified coordinated fraud rings invisible to text classifiers.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2CA25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end-to-end system is deployable via REST API for real-time fake review screening.</a:t>
            </a:r>
            <a:endParaRPr/>
          </a:p>
        </p:txBody>
      </p:sp>
      <p:sp>
        <p:nvSpPr>
          <p:cNvPr id="434" name="Google Shape;434;p14"/>
          <p:cNvSpPr/>
          <p:nvPr/>
        </p:nvSpPr>
        <p:spPr>
          <a:xfrm>
            <a:off x="7498079" y="1554480"/>
            <a:ext cx="4114800" cy="274320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 txBox="1"/>
          <p:nvPr/>
        </p:nvSpPr>
        <p:spPr>
          <a:xfrm>
            <a:off x="7772400" y="16916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🚀  Future Work</a:t>
            </a:r>
            <a:endParaRPr/>
          </a:p>
        </p:txBody>
      </p:sp>
      <p:sp>
        <p:nvSpPr>
          <p:cNvPr id="436" name="Google Shape;436;p14"/>
          <p:cNvSpPr txBox="1"/>
          <p:nvPr/>
        </p:nvSpPr>
        <p:spPr>
          <a:xfrm>
            <a:off x="7772400" y="2194560"/>
            <a:ext cx="36576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learning (BERT/transformers) for text classification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Temporal pattern analysis with LSTMs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Cross-platform generalization testing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Explainable AI (SHAP/LIME) integration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●  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Large-scale production deployment</a:t>
            </a:r>
            <a:endParaRPr/>
          </a:p>
        </p:txBody>
      </p:sp>
      <p:sp>
        <p:nvSpPr>
          <p:cNvPr id="437" name="Google Shape;437;p14"/>
          <p:cNvSpPr/>
          <p:nvPr/>
        </p:nvSpPr>
        <p:spPr>
          <a:xfrm>
            <a:off x="548640" y="4572000"/>
            <a:ext cx="2286000" cy="109728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685800" y="4645152"/>
            <a:ext cx="2011680" cy="32004"/>
          </a:xfrm>
          <a:prstGeom prst="rect">
            <a:avLst/>
          </a:prstGeom>
          <a:solidFill>
            <a:srgbClr val="2CA2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 txBox="1"/>
          <p:nvPr/>
        </p:nvSpPr>
        <p:spPr>
          <a:xfrm>
            <a:off x="685800" y="47548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2CA25F"/>
                </a:solidFill>
                <a:latin typeface="Calibri"/>
                <a:ea typeface="Calibri"/>
                <a:cs typeface="Calibri"/>
                <a:sym typeface="Calibri"/>
              </a:rPr>
              <a:t>85.9%</a:t>
            </a:r>
            <a:endParaRPr/>
          </a:p>
        </p:txBody>
      </p:sp>
      <p:sp>
        <p:nvSpPr>
          <p:cNvPr id="440" name="Google Shape;440;p14"/>
          <p:cNvSpPr txBox="1"/>
          <p:nvPr/>
        </p:nvSpPr>
        <p:spPr>
          <a:xfrm>
            <a:off x="685800" y="52120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Best Accuracy</a:t>
            </a:r>
            <a:b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(Random Forest)</a:t>
            </a:r>
            <a:endParaRPr/>
          </a:p>
        </p:txBody>
      </p:sp>
      <p:sp>
        <p:nvSpPr>
          <p:cNvPr id="441" name="Google Shape;441;p14"/>
          <p:cNvSpPr/>
          <p:nvPr/>
        </p:nvSpPr>
        <p:spPr>
          <a:xfrm>
            <a:off x="3108960" y="4572000"/>
            <a:ext cx="2286000" cy="109728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3246120" y="4645152"/>
            <a:ext cx="2011680" cy="32004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 txBox="1"/>
          <p:nvPr/>
        </p:nvSpPr>
        <p:spPr>
          <a:xfrm>
            <a:off x="3246120" y="47548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106</a:t>
            </a:r>
            <a:endParaRPr/>
          </a:p>
        </p:txBody>
      </p:sp>
      <p:sp>
        <p:nvSpPr>
          <p:cNvPr id="444" name="Google Shape;444;p14"/>
          <p:cNvSpPr txBox="1"/>
          <p:nvPr/>
        </p:nvSpPr>
        <p:spPr>
          <a:xfrm>
            <a:off x="3246120" y="52120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Engineered</a:t>
            </a:r>
            <a:b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/>
          </a:p>
        </p:txBody>
      </p:sp>
      <p:sp>
        <p:nvSpPr>
          <p:cNvPr id="445" name="Google Shape;445;p14"/>
          <p:cNvSpPr/>
          <p:nvPr/>
        </p:nvSpPr>
        <p:spPr>
          <a:xfrm>
            <a:off x="5669280" y="4572000"/>
            <a:ext cx="2286000" cy="109728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5806440" y="4645152"/>
            <a:ext cx="2011680" cy="32004"/>
          </a:xfrm>
          <a:prstGeom prst="rect">
            <a:avLst/>
          </a:prstGeom>
          <a:solidFill>
            <a:srgbClr val="00D4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 txBox="1"/>
          <p:nvPr/>
        </p:nvSpPr>
        <p:spPr>
          <a:xfrm>
            <a:off x="5806440" y="47548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00D4AA"/>
                </a:solidFill>
                <a:latin typeface="Calibri"/>
                <a:ea typeface="Calibri"/>
                <a:cs typeface="Calibri"/>
                <a:sym typeface="Calibri"/>
              </a:rPr>
              <a:t>120K</a:t>
            </a:r>
            <a:endParaRPr/>
          </a:p>
        </p:txBody>
      </p:sp>
      <p:sp>
        <p:nvSpPr>
          <p:cNvPr id="448" name="Google Shape;448;p14"/>
          <p:cNvSpPr txBox="1"/>
          <p:nvPr/>
        </p:nvSpPr>
        <p:spPr>
          <a:xfrm>
            <a:off x="5806440" y="52120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Reviews</a:t>
            </a:r>
            <a:b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Analyzed</a:t>
            </a:r>
            <a:endParaRPr/>
          </a:p>
        </p:txBody>
      </p:sp>
      <p:sp>
        <p:nvSpPr>
          <p:cNvPr id="449" name="Google Shape;449;p14"/>
          <p:cNvSpPr/>
          <p:nvPr/>
        </p:nvSpPr>
        <p:spPr>
          <a:xfrm>
            <a:off x="8229600" y="4572000"/>
            <a:ext cx="2286000" cy="109728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8366760" y="4645152"/>
            <a:ext cx="2011680" cy="32004"/>
          </a:xfrm>
          <a:prstGeom prst="rect">
            <a:avLst/>
          </a:prstGeom>
          <a:solidFill>
            <a:srgbClr val="F0A5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4"/>
          <p:cNvSpPr txBox="1"/>
          <p:nvPr/>
        </p:nvSpPr>
        <p:spPr>
          <a:xfrm>
            <a:off x="8366760" y="4754880"/>
            <a:ext cx="2011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0A500"/>
                </a:solidFill>
                <a:latin typeface="Calibri"/>
                <a:ea typeface="Calibri"/>
                <a:cs typeface="Calibri"/>
                <a:sym typeface="Calibri"/>
              </a:rPr>
              <a:t>9 Stages</a:t>
            </a:r>
            <a:endParaRPr/>
          </a:p>
        </p:txBody>
      </p:sp>
      <p:sp>
        <p:nvSpPr>
          <p:cNvPr id="452" name="Google Shape;452;p14"/>
          <p:cNvSpPr txBox="1"/>
          <p:nvPr/>
        </p:nvSpPr>
        <p:spPr>
          <a:xfrm>
            <a:off x="8366760" y="521208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b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11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Pipeline</a:t>
            </a:r>
            <a:endParaRPr/>
          </a:p>
        </p:txBody>
      </p:sp>
      <p:sp>
        <p:nvSpPr>
          <p:cNvPr id="453" name="Google Shape;453;p14"/>
          <p:cNvSpPr/>
          <p:nvPr/>
        </p:nvSpPr>
        <p:spPr>
          <a:xfrm>
            <a:off x="548640" y="5943600"/>
            <a:ext cx="11064240" cy="731520"/>
          </a:xfrm>
          <a:prstGeom prst="roundRect">
            <a:avLst>
              <a:gd fmla="val 2000" name="adj"/>
            </a:avLst>
          </a:prstGeom>
          <a:solidFill>
            <a:srgbClr val="142D5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4"/>
          <p:cNvSpPr txBox="1"/>
          <p:nvPr/>
        </p:nvSpPr>
        <p:spPr>
          <a:xfrm>
            <a:off x="731520" y="60350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Aswin M</a:t>
            </a:r>
            <a:br>
              <a:rPr b="1"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Feature Eng. + Random Forest + Anomaly Detection</a:t>
            </a:r>
            <a:endParaRPr/>
          </a:p>
        </p:txBody>
      </p:sp>
      <p:sp>
        <p:nvSpPr>
          <p:cNvPr id="455" name="Google Shape;455;p14"/>
          <p:cNvSpPr txBox="1"/>
          <p:nvPr/>
        </p:nvSpPr>
        <p:spPr>
          <a:xfrm>
            <a:off x="3474720" y="60350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Divon John</a:t>
            </a:r>
            <a:br>
              <a:rPr b="1"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Data Preprocessing + EDA + Web Frontend</a:t>
            </a:r>
            <a:endParaRPr/>
          </a:p>
        </p:txBody>
      </p:sp>
      <p:sp>
        <p:nvSpPr>
          <p:cNvPr id="456" name="Google Shape;456;p14"/>
          <p:cNvSpPr txBox="1"/>
          <p:nvPr/>
        </p:nvSpPr>
        <p:spPr>
          <a:xfrm>
            <a:off x="6217920" y="60350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Mahadev P Nair</a:t>
            </a:r>
            <a:br>
              <a:rPr b="1"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Sentiment + Topic Modeling + API</a:t>
            </a:r>
            <a:endParaRPr/>
          </a:p>
        </p:txBody>
      </p:sp>
      <p:sp>
        <p:nvSpPr>
          <p:cNvPr id="457" name="Google Shape;457;p14"/>
          <p:cNvSpPr txBox="1"/>
          <p:nvPr/>
        </p:nvSpPr>
        <p:spPr>
          <a:xfrm>
            <a:off x="8961120" y="60350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Zewin Jos</a:t>
            </a:r>
            <a:br>
              <a:rPr b="1" lang="en-US" sz="11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9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NB + Logistic Regression Baselines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D3A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5"/>
          <p:cNvSpPr/>
          <p:nvPr/>
        </p:nvSpPr>
        <p:spPr>
          <a:xfrm>
            <a:off x="-1856025" y="2654675"/>
            <a:ext cx="5486400" cy="5486400"/>
          </a:xfrm>
          <a:prstGeom prst="ellipse">
            <a:avLst/>
          </a:prstGeom>
          <a:solidFill>
            <a:srgbClr val="0E2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0E2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5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5029200" y="3017520"/>
            <a:ext cx="2103120" cy="45720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 txBox="1"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Review Trust Analyzer  •  CSS-321  •  Team 1</a:t>
            </a:r>
            <a:endParaRPr/>
          </a:p>
        </p:txBody>
      </p:sp>
      <p:sp>
        <p:nvSpPr>
          <p:cNvPr id="467" name="Google Shape;467;p15"/>
          <p:cNvSpPr txBox="1"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96FF"/>
                </a:solidFill>
                <a:latin typeface="Calibri"/>
                <a:ea typeface="Calibri"/>
                <a:cs typeface="Calibri"/>
                <a:sym typeface="Calibri"/>
              </a:rPr>
              <a:t>Questions &amp; Discussion</a:t>
            </a:r>
            <a:endParaRPr/>
          </a:p>
        </p:txBody>
      </p:sp>
      <p:sp>
        <p:nvSpPr>
          <p:cNvPr id="468" name="Google Shape;468;p15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B0C4DE"/>
                </a:solidFill>
                <a:latin typeface="Calibri"/>
                <a:ea typeface="Calibri"/>
                <a:cs typeface="Calibri"/>
                <a:sym typeface="Calibri"/>
              </a:rPr>
              <a:t>Aswin M   •   Divon John   •   Mahadev P Nair   •   Zewin Jos</a:t>
            </a: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009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Divon John</dc:creator>
</cp:coreProperties>
</file>